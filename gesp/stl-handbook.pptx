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54" Target="notesSlides/notesSlide22.xml" Type="http://schemas.openxmlformats.org/officeDocument/2006/relationships/notesSlide"/><Relationship Id="rId55" Target="notesSlides/notesSlide23.xml" Type="http://schemas.openxmlformats.org/officeDocument/2006/relationships/notesSlide"/><Relationship Id="rId56" Target="notesSlides/notesSlide24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本页为《GESP考级 C++ STL全套手册》的封面页。设计采用了简洁专业的风格，主色调选用深绿色（#2E7D32），象征着编程的严谨与生机。页面布局居中对称，重点突出了手册的核心主题和适用范围，涵盖了从1级到8级的全阶段知识点，包含详细的函数用法与实战代码样例，是C++编程考级备考的重要参考资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这是课程的目录页，我们将内容分为了六大核心板块，旨在全方位覆盖考试与实战需求。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考点分布总览：帮助大家建立全局认知，明确学习重点。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容器篇：这是基础中的重点，我们会深入解析9大核心容器的特性与应用。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算法篇：涵盖排序、二分查找等高频算法，是提升解题能力的关键。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常用库函数：总结开发中最常用的库函数，提高编码效率。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5. 按级别速查表：提供分级知识索引，方便大家按需查阅和复习。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6. 易错点与避坑指南：这是实战经验的精华，帮助大家少走弯路，避免常见错误。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这是一个过渡页，主要作用是引导观众进入第一部分内容。页面采用了深绿色作为主色调，呼应GESP认证的科技与教育属性。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左侧的大数字“01”强调了章节的顺序，配合辅助文字点明了这一章节的核心目的：构建考点认知框架。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右侧详细阐述了本章节的主题，即GESP各级别STL考点的分布情况，为后续的详细讲解做铺垫。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本页PPT展示了GESP认证考试1到8级关于STL（标准模板库）的考点分布情况。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**1-2级**：属于入门阶段，1级主要考察基础语法，2级开始引入string字符串操作，是STL学习的起点。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**3-4级**：进入序列式容器阶段，重点是vector动态数组的深入应用以及sort排序算法的掌握。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**5-6级**：转向容器适配器，先通过数组模拟理解栈和队列的原理，再过渡到STL标准库的stack和queue，同时引入二分查找算法。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**7-8级**：是进阶与精通阶段，涉及关联式容器set/map、优先级队列，以及高效的区间查找函数；8级则扩展到无序容器和更全面的STL算法体系，对数据结构和算法的综合运用能力要求较高。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这是一个过渡页，用于进入“容器篇”的内容讲解。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设计上采用了深绿色作为主色调，象征着技术的稳重与生命力。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左侧使用巨大的数字“02”作为视觉焦点，强化章节感；右侧详细展示了章节标题和核心内容概览，让观众对接下来的内容有明确的预期。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底部的深绿色装饰线起到了视觉收尾的作用，同时与整体色调保持统一。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本页介绍了C++中string字符串容器的核心用法。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左侧列出了最常用的三类函数：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基础属性与访问：length()和size()功能完全一致，返回字符个数；[]运算符和at()函数都可以访问字符，区别在于at()会做越界检查，抛出异常，而[]不做检查。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拼接与子串：+=运算符是最常用的拼接方式，简洁高效；substr(pos, len)用于截取子串，注意pos是起始位置，len是截取长度。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查找与修改：find()用于查找子串，返回第一次出现的索引；insert()和erase()提供了灵活的插入和删除操作。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右侧代码展示了这些函数的实际应用场景，从初始化到拼接、截取、查找的完整流程。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这一页PPT主要介绍了C++中vector动态数组的核心概念和常用函数。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我们列出了vector最常用的成员函数，分为添加、删除、查询、访问和高级操作几类。其中push_back和pop_back是效率最高的操作，因为它们只涉及尾部元素的变更。而insert和erase因为可能涉及元素的移动，所以在频繁操作时要注意效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展示了一段标准的vector使用代码，从包含头文件、定义容器到添加和删除元素，展示了其简洁的语法。特别要注意的是，vector的下标访问[]不做越界检查，而at()方法会做检查，在调试阶段推荐使用at()以避免越界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这一页PPT主要讲解了C++ STL中的两个重要容器适配器：栈（Stack）和队列（Queue）。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栈（Stack）：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特点：遵循后进先出（LIFO）原则，就像叠盘子一样。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核心操作：push入栈，pop出栈（注意pop不返回值），top获取栈顶元素。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代码演示：展示了如何定义栈、压入元素、访问栈顶和弹出元素的过程。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队列（Queue）：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特点：遵循先进先出（FIFO）原则，就像排队一样。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核心操作：push队尾入列，pop队首出列，front访问队首，back访问队尾。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代码演示：展示了队列的基本使用流程。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最后，请注意在实际编码中，需要包含&lt;stack&gt;和&lt;queue&gt;头文件。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这一页PPT主要讲解了C++中优先级队列（priority_queue）的核心知识点，这是GESP 7级考试的重点内容。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左侧我们解析了它的核心机制：它是一个容器适配器，底层基于堆实现，特点是自动排序，队首始终是优先级最高的元素。默认情况下，它是一个大顶堆，也就是最大值优先。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如果需要实现小顶堆（最小值优先），我们需要显式指定模板参数，使用 greater&lt;int&gt; 作为比较函数，这是考试中最容易出错的地方。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右侧的代码示例直观展示了大顶堆和小顶堆的写法及基本操作，大家可以注意对比两者的区别。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底部总结了核心函数和应用场景，特别是在算法竞赛和实际开发中，优先级队列常用于处理需要动态获取极值的场景，如Dijkstra算法。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这一页我们深入探讨 C++ 标准库中的 set 和 multiset 容器。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首先看左侧的核心特性：set 容器最显著的特点是“自动排序”和“唯一性”。当你插入元素时，它会自动按照升序排列，并且如果插入重复元素，set 会直接忽略。而 multiset 则是 set 的变种，它允许元素重复，这在统计频率等场景非常有用。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在底层实现上，它们都采用了红黑树（Red-Black Tree）。这是一种平衡二叉搜索树，保证了插入、删除、查找等操作的时间复杂度都是 O(log n)，效率非常高。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关于遍历，set 不支持随机访问（比如用下标 operator[]），只能使用双向迭代器进行遍历。遍历的顺序就是元素排序后的顺序。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看右侧的代码示例：我们插入了 3, 1, 2，最后还有一个重复的 2。通过 size() 可以看到元素个数是 3，count(2) 也只返回 1。这直观地展示了 set 的去重特性。同时，find 函数可以快速定位元素。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这一页我们深入探讨 C++ STL 中的 map 和 multimap 容器。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首先看左侧的核心特性：map 是一种关联容器，存储的是键值对（Key-Value），并且它的 Key 是唯一的，容器会自动根据 Key 进行排序。底层是基于红黑树实现的，这保证了所有操作的时间复杂度都是 O(log n)。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在核心接口方面，我们常用的有插入 insert、运算符 []、删除 erase、查找 find 和统计 count。这里有一个非常重要的“坑”需要注意：当使用 [] 运算符去访问一个不存在的 Key 时，map 会自动将这个 Key 插入进去，并赋予 Value 类型的默认值，这可能会导致意想不到的数据插入和内存占用。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再看右侧的代码示例，展示了如何定义 map、插入数据、修改值以及查找。遍历 map 时，迭代器指向的是 pair 类型，first 代表键，second 代表值。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最后，map 常用于需要有序排列且需要快速查找的场景，比如统计文章中单词出现的频率。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这一页我们重点讲解 C++ 标准库中的 unordered 哈希容器，这是 GESP 8 级考试的拓展内容。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首先看上半部分的核心特性。unordered_set 和 unordered_map 底层都是基于哈希表实现的，这决定了它们的元素是无序存储的。与有序的 set 和 map 相比，最大的优势就是时间复杂度，在平均情况下，插入、删除和查找都能达到 O(1)，效率非常高。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在使用特性上，它们的函数接口与 set/map 基本一致，比如都有 insert、count、find 等方法，上手非常容易。但要注意，因为是无序的，所以不能进行排序遍历，也不能使用 lower_bound 这类需要有序的算法。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下半部分的代码展示了具体用法。左侧是 unordered_set，我们可以直接插入整数，查找的时候用 count 非常快。右侧是 unordered_map，支持键值对的快速赋值和查找，这在处理大量数据的映射关系时非常实用。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这是一个过渡页，标志着我们进入了算法篇的学习。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这一部分我们将重点探讨排序、二分查找、统计分析以及数据修改这四大核心算法模块。这些是计算机科学中最基础也最重要的算法逻辑，掌握它们对于处理复杂数据、优化程序性能至关重要。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本页介绍了 C++ 中最常用的 sort 排序算法。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左侧是核心知识点：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必须包含头文件 &lt;algorithm&gt;。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默认是升序排列，底层实现效率很高，时间复杂度为 O(n log n)。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适用范围广，支持 vector、普通数组和 string 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支持通过比较函数或 greater 实现降序。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右侧是代码实战：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展示了 vector 的默认升序和 greater 降序写法。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展示了普通数组的排序写法，注意数组的结束位置是首地址+元素个数。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本页PPT主要讲解C++中二分查找的核心算法，分为6级基础考点和7级进阶考点。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上半部分重点是binary_search函数，它的核心作用是判断元素是否存在，返回bool值。务必强调其前提条件：数组必须是升序有序的，否则结果不可预测。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下半部分是进阶内容，也是考试的难点：lower_bound和upper_bound。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lower_bound返回第一个大于等于目标值的位置，是查找插入点或起始位置的关键。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upper_bound返回第一个大于目标值的位置。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两者结合（upper - lower）可以快速计算有序数组中某个元素的出现次数，这是一个非常经典的考点。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- 另外，需要注意如果数组是降序排列的，需要在函数参数末尾加上greater&lt;int&gt;()比较器。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这一页我们重点讲解C++标准库中的最值查找与统计算法，这些算法极大地简化了我们对容器数据的处理。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左侧是最值函数：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基础的max和min函数用于两个数值的直接比较。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更常用的是max_element和min_element，它们作用于一个区间，返回的是迭代器，这一点非常关键，必须使用解引用符号*才能得到具体的值。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右侧是统计算法：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count用于统计特定值出现的次数。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count_if则更灵活，允许我们自定义条件，比如统计大于10的元素个数。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accumulate用于区间求和，注意它在&lt;numeric&gt;头文件中，且需要指定初始值（通常为0）。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底部的代码示例展示了这些函数的实际用法，请注意头文件的引入规范。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这一页我们重点讲解C++ STL中的四个常用修改操作算法。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reverse：用于反转容器中指定区间的元素，非常直观。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fill：用于批量填充数据，在初始化数组或重置状态时非常有用。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swap：高效交换两个对象的值，无论是基本数据类型还是容器都适用。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unique：这是本节课的重点，也是考试的高频考点。它的作用是去除相邻的重复元素。特别要注意，它不会真正删除元素，只是把重复的元素移到后面，所以我们通常需要配合 sort 和 erase 一起使用，也就是“排序-去重-删除”三步走。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这是第四章的过渡页，主题是C语言的常用库函数。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在C语言开发中，标准库函数是提高开发效率的关键。本章我们重点介绍三个最常用的头文件：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cmath：提供了丰富的数学计算功能，如三角函数、指数对数运算等。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cstring：专注于字符串的处理，包括复制、拼接、比较等基础操作。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cstdio：负责程序与外部设备的交互，即标准的输入和输出。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这一页PPT主要展示了C++编程中三个最常用的标准库：cmath、cstring和cstdio。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cmath库主要处理数学计算，包括绝对值、平方根、幂运算以及各种取整函数，这些是处理数值问题的基础。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cstring库针对C风格字符串操作，strlen求长度、strcmp比较大小、strcpy复制等函数是处理字符数组的核心工具。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cstdio库负责输入输出，scanf和printf是最经典的格式化IO函数，在处理大数据量时效率通常高于cin/cout，同时也提供了cin加速的技巧。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底部提示大家根据实际需求（如竞赛或项目开发）来选择性深入掌握这些函数的细节。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这是第五部分的过渡页，主题是“按级别速查”。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在这一章节中，我们将内容进行了分级处理。这种分级不仅是为了结构清晰，更是为了满足不同背景读者的需求。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基础层级帮助入门者建立认知框架，进阶层级提供实际应用的方法，而精通层级则深入探讨核心逻辑与高阶技巧。读者可以根据自己的当前水平和学习目标，按需查阅，避免信息过载，提升学习效率。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这一页PPT主要展示了GESP计算机等级考试各级别必须掌握的核心内容，采用了深绿色的专业风格。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表格清晰地将级别、核心知识模块和具体必掌握的知识点对应起来，从Level 2的字符串基础开始，逐步进阶到Level 8的STL算法大全，逻辑连贯。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底部附带了学习建议，强调了循序渐进的重要性，帮助学习者理清学习路径。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这一页是过渡页，进入第六部分“易错点与避坑”。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这一部分非常关键，因为很多考生技术上没有大问题，但往往因为细节上的疏忽导致不必要的扣分。我们将重点梳理考级中常见的扣分重灾区，帮助大家提前预警，规避风险。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这一页我们总结了C++编程中最常见的四类易错点，这些问题在考级和竞赛中出现频率极高，也是丢分的主要原因。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容器类：重点关注vector越界和map的自动插入特性，这是初学者最容易忽略的。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算法类：记住“排序是很多算法的前提”，比如unique去重和二分查找。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IO类：处理大数据时必须注意cin的加速，以及格式符的严格匹配。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迭代器类：核心是避免迭代器失效，特别是在erase操作后。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各位同学，C++编程的学习是一个循序渐进的过程，备考GESP考级不仅是对知识的检验，更是对逻辑思维的锻炼。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希望大家在接下来的时间里，保持持续练习的习惯，通过不断的代码编写和调试，真正掌握编程的核心思想。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记住，熟能生巧，每一次的练习都是在为成功铺路。祝大家在考级中发挥出色，取得理想的成绩！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notesSlides/notesSlide7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6.xml" Type="http://schemas.openxmlformats.org/officeDocument/2006/relationships/notesSlid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9.png" Type="http://schemas.openxmlformats.org/officeDocument/2006/relationships/image"/><Relationship Id="rId3" Target="../media/image80.svg" Type="http://schemas.openxmlformats.org/officeDocument/2006/relationships/image"/><Relationship Id="rId4" Target="../media/image81.png" Type="http://schemas.openxmlformats.org/officeDocument/2006/relationships/image"/><Relationship Id="rId5" Target="../media/image82.sv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9.xml" Type="http://schemas.openxmlformats.org/officeDocument/2006/relationships/notesSlide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91.png" Type="http://schemas.openxmlformats.org/officeDocument/2006/relationships/image"/><Relationship Id="rId9" Target="../media/image9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3.png" Type="http://schemas.openxmlformats.org/officeDocument/2006/relationships/image"/><Relationship Id="rId3" Target="../media/image94.svg" Type="http://schemas.openxmlformats.org/officeDocument/2006/relationships/image"/><Relationship Id="rId4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svg" Type="http://schemas.openxmlformats.org/officeDocument/2006/relationships/image"/><Relationship Id="rId12" Target="../notesSlides/notesSlide23.xml" Type="http://schemas.openxmlformats.org/officeDocument/2006/relationships/notesSlid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5.png" Type="http://schemas.openxmlformats.org/officeDocument/2006/relationships/image"/><Relationship Id="rId3" Target="../media/image106.svg" Type="http://schemas.openxmlformats.org/officeDocument/2006/relationships/image"/><Relationship Id="rId4" Target="../media/image87.png" Type="http://schemas.openxmlformats.org/officeDocument/2006/relationships/image"/><Relationship Id="rId5" Target="../media/image107.svg" Type="http://schemas.openxmlformats.org/officeDocument/2006/relationships/image"/><Relationship Id="rId6" Target="../notesSlides/notesSlide24.xml" Type="http://schemas.openxmlformats.org/officeDocument/2006/relationships/notesSlide"/><Relationship Id="rId7" Target="../media/image10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540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GESP考级 C++ STL全套手册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8594" flipH="false" flipV="false">
            <a:off x="3556008" y="3930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E7D32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0" y="431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从1级到8级 · 函数用法 + 代码样例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842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C++编程考级备考指南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287000" y="5651500"/>
            <a:ext cx="8890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444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5055" flipH="false" flipV="false">
            <a:off x="508005" y="1263650"/>
            <a:ext cx="863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778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57030" flipH="false" flipV="false">
            <a:off x="1143000" y="2470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841500" y="1905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考点分布总览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全方位解析考试大纲核心考点，梳理知识模块权重与分布规律，明确备考重点方向。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3429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92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57030" flipH="false" flipV="false">
            <a:off x="1143000" y="4121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841500" y="3556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核心容器深度解析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系统讲解9大常用容器特性，对比底层实现原理，掌握场景选型与性能优化关键技巧。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5080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143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57030" flipH="false" flipV="false">
            <a:off x="1143000" y="5772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1841500" y="520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算法核心策略精讲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聚焦排序、二分查找与统计类高频算法，剖析解题思路，提炼通用代码模板与逻辑。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1778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334000" y="1841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57030" flipH="false" flipV="false">
            <a:off x="5715000" y="2470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413500" y="1905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高频库函数速查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整理常用标准库函数参数与使用场景，规避调用陷阱，提升代码编写效率与规范性。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80000" y="3429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80000" y="342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334000" y="3492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57030" flipH="false" flipV="false">
            <a:off x="5715000" y="4121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413500" y="3556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分级知识速查手册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按基础、进阶、高级三个维度梳理知识点，构建金字塔式知识体系，便于快速查阅。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080000" y="5080000"/>
            <a:ext cx="42545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0A5F4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334000" y="5143500"/>
            <a:ext cx="76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5F45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57030" flipH="false" flipV="false">
            <a:off x="5715000" y="5772190"/>
            <a:ext cx="101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5F45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6413500" y="520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0A5F45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实战易错点避坑指南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总结历年高频错误案例，剖析常见逻辑漏洞与语法陷阱，提供针对性的解决方案。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588500" y="1778000"/>
            <a:ext cx="2222500" cy="4699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A5F45">
                  <a:alpha val="100000"/>
                </a:srgbClr>
              </a:gs>
              <a:gs pos="100000">
                <a:srgbClr val="108561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715500" y="2286000"/>
            <a:ext cx="196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>
                    <a:alpha val="2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-25464" flipH="false" flipV="false">
            <a:off x="9842524" y="4184650"/>
            <a:ext cx="1714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9715500" y="4572000"/>
            <a:ext cx="1968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知识体系构建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从基础到进阶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直击核心考点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4318000" cy="6858000"/>
          </a:xfrm>
          <a:prstGeom prst="roundRect">
            <a:avLst>
              <a:gd name="adj" fmla="val 0"/>
            </a:avLst>
          </a:prstGeom>
          <a:solidFill>
            <a:srgbClr val="0A6640">
              <a:alpha val="5000"/>
            </a:srgbClr>
          </a:solidFill>
          <a:ln cmpd="sng" cap="flat">
            <a:solidFill>
              <a:srgbClr val="004D2D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540000"/>
            <a:ext cx="330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0A66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0A664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PHASE 01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构建系统化的考点认知框架，精准定位各级别核心难点。</a:t>
            </a:r>
          </a:p>
        </p:txBody>
      </p:sp>
      <p:cxnSp>
        <p:nvCxnSpPr>
          <p:cNvPr name="Connector 5" id="5"/>
          <p:cNvCxnSpPr/>
          <p:nvPr/>
        </p:nvCxnSpPr>
        <p:spPr>
          <a:xfrm rot="5384373" flipH="false" flipV="false">
            <a:off x="3175000" y="3422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A664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0" y="26670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A6640"/>
                </a:solidFill>
                <a:latin typeface="Noto Sans SC"/>
                <a:ea typeface="Noto Sans SC"/>
                <a:cs typeface="Noto Sans SC"/>
                <a:sym typeface="Noto Sans SC"/>
              </a:rPr>
              <a:t>考点分布总览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38100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GESP 各级别 STL 考点分布全景解析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4826000"/>
            <a:ext cx="647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从入门级的基础容器使用到进阶级的算法应用，全面梳理标准模板库在认证考试中的考察维度，为不同阶段的学习者提供清晰的备考方向与重点指引。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0A6640">
              <a:alpha val="100000"/>
            </a:srgbClr>
          </a:solidFill>
          <a:ln cmpd="sng" cap="flat">
            <a:solidFill>
              <a:srgbClr val="004D2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C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6653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5080000" cy="5080000"/>
          </a:xfrm>
          <a:prstGeom prst="ellipse">
            <a:avLst/>
          </a:prstGeom>
          <a:solidFill>
            <a:srgbClr val="16653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445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GESP 1~8级 STL考点分布总览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11176000" cy="38100"/>
          </a:xfrm>
          <a:prstGeom prst="roundRect">
            <a:avLst>
              <a:gd name="adj" fmla="val 0"/>
            </a:avLst>
          </a:prstGeom>
          <a:solidFill>
            <a:srgbClr val="166534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08000" y="1778000"/>
          <a:ext cx="11176000" cy="55753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9398000"/>
              </a:tblGrid>
              <a:tr h="698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考试级别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8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 STL 考点与知识重点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尚未涉及标准模板库(STL)，重点考察 C++ 基础语法、变量类型、简单输入输出与流程控制语句。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正式引入 string 字符串类，重点掌握字符串的基础操作，包括拼接、截取、长度获取及常用成员函数的使用。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深入 string 进阶操作（如查找、替换、比较），同时开启序列式容器学习，掌握 vector 动态数组的初始化、遍历与增删改查。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巩固 vector 容器应用，引入标准算法库，重点掌握 sort 排序算法的使用，以及基础线性查找算法与数值处理。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理解栈(Stack)与队列(Queue)的核心原理与数据结构特性，要求能够使用基础数组模拟实现这两种容器的核心功能。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正式使用 STL 中的 stack 与 queue 容器适配器，掌握其标准接口调用；同时学习二分查找，掌握 binary_search 算法的应用场景。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进阶至关联式容器，掌握 set/map 的有序存储特性；学习优先级队列 priority_queue；熟练运用 lower_bound/upper_bound 进行高效区间查找。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9050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5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掌握无序容器 unordered_map/unordered_set 的哈希实现；学习 deque 双端队列与 list 链表特性；全面掌握 STL 算法库中的排序、查找、遍历等高级算法。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665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4064000" cy="6858000"/>
          </a:xfrm>
          <a:prstGeom prst="roundRect">
            <a:avLst>
              <a:gd name="adj" fmla="val 0"/>
            </a:avLst>
          </a:prstGeom>
          <a:solidFill>
            <a:srgbClr val="064E3B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2286000"/>
            <a:ext cx="3556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0">
                <a:solidFill>
                  <a:srgbClr val="064E3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5080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64E3B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CONTAINER SERIES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8540" flipH="false" flipV="false">
            <a:off x="2667000" y="3422661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4E3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0" y="1651000"/>
            <a:ext cx="762000" cy="76200"/>
          </a:xfrm>
          <a:prstGeom prst="roundRect">
            <a:avLst>
              <a:gd name="adj" fmla="val 0"/>
            </a:avLst>
          </a:prstGeom>
          <a:solidFill>
            <a:srgbClr val="064E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2159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容器篇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35560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9大核心容器全解析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4699000"/>
            <a:ext cx="635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深入剖析容器技术的核心架构体系，系统梳理9大关键容器类型的特性、底层逻辑与应用场景。从基础实现到高级扩展，全方位掌握容器化技术的核心要义，为构建高可用、可扩展的系统架构奠定坚实基础。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064E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00664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00664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06644"/>
                </a:solidFill>
                <a:latin typeface="Noto Sans SC"/>
                <a:ea typeface="Noto Sans SC"/>
                <a:cs typeface="Noto Sans SC"/>
                <a:sym typeface="Noto Sans SC"/>
              </a:rPr>
              <a:t>string 字符串容器（2级入门·3级进阶）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819" flipH="false" flipV="false">
            <a:off x="381004" y="1136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6644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81000" y="1524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" y="1524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1625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6644"/>
                </a:solidFill>
                <a:latin typeface="Noto Sans SC"/>
                <a:ea typeface="Noto Sans SC"/>
                <a:cs typeface="Noto Sans SC"/>
                <a:sym typeface="Noto Sans SC"/>
              </a:rPr>
              <a:t>01. 基础属性与访问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703" flipH="false" flipV="false">
            <a:off x="635008" y="2152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664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35000" y="2222500"/>
            <a:ext cx="501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length() / size()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获取字符长度；通过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[] / at()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访问指定位置字符，at()提供越界检查。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32385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32385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365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43000" y="3340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6644"/>
                </a:solidFill>
                <a:latin typeface="Noto Sans SC"/>
                <a:ea typeface="Noto Sans SC"/>
                <a:cs typeface="Noto Sans SC"/>
                <a:sym typeface="Noto Sans SC"/>
              </a:rPr>
              <a:t>02. 拼接与子串处理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703" flipH="false" flipV="false">
            <a:off x="635008" y="38671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664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35000" y="3937000"/>
            <a:ext cx="501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+= / append()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高效拼接字符串；通过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substr(pos, len)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从pos位置截取长度为len的子串。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1000" y="4953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1000" y="4953000"/>
            <a:ext cx="76200" cy="1460500"/>
          </a:xfrm>
          <a:prstGeom prst="roundRect">
            <a:avLst>
              <a:gd name="adj" fmla="val 0"/>
            </a:avLst>
          </a:prstGeom>
          <a:solidFill>
            <a:srgbClr val="0066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5080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143000" y="5054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6644"/>
                </a:solidFill>
                <a:latin typeface="Noto Sans SC"/>
                <a:ea typeface="Noto Sans SC"/>
                <a:cs typeface="Noto Sans SC"/>
                <a:sym typeface="Noto Sans SC"/>
              </a:rPr>
              <a:t>03. 查找、插入与删除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703" flipH="false" flipV="false">
            <a:off x="635008" y="5581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6644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" y="5651500"/>
            <a:ext cx="501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find()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查找子串首次出现位置；配合</a:t>
            </a:r>
            <a:r>
              <a:rPr lang="en-US" b="true" i="false" strike="noStrike" u="none" sz="1400">
                <a:solidFill>
                  <a:srgbClr val="0066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insert() / erase()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灵活操作字符串内容。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91070" flipH="false" flipV="false">
            <a:off x="3714750" y="3962408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350000" y="1524000"/>
            <a:ext cx="5524500" cy="48895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1524000"/>
            <a:ext cx="55245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40500" y="1676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94500" y="1676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048500" y="1676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0" y="1625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string_demo.cpp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2159000"/>
            <a:ext cx="52705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69CD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#include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&lt;string&gt;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569CD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usingnamespace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std;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569CD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main() {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 s =</a:t>
            </a:r>
            <a:r>
              <a:rPr lang="en-US" b="false" i="false" strike="noStrike" u="none" sz="1400">
                <a:solidFill>
                  <a:srgbClr val="CE91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"hello"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// 初始化字符串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 +=</a:t>
            </a:r>
            <a:r>
              <a:rPr lang="en-US" b="false" i="false" strike="noStrike" u="none" sz="1400">
                <a:solidFill>
                  <a:srgbClr val="CE91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 world"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; // 拼接操作 -&gt; "hello world"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string sub = s.substr(0, 3); // 截取前3字符 -&gt; "hel"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size_t pos = s.find(</a:t>
            </a:r>
            <a:r>
              <a:rPr lang="en-US" b="false" i="false" strike="noStrike" u="none" sz="1400">
                <a:solidFill>
                  <a:srgbClr val="CE91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"ll"</a:t>
            </a: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 // 查找子串位置 -&gt; 返回 2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 0;</a:t>
            </a:r>
            <a: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400">
                <a:solidFill>
                  <a:srgbClr val="D4D4D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50000" y="6350000"/>
            <a:ext cx="5524500" cy="457200"/>
          </a:xfrm>
          <a:prstGeom prst="roundRect">
            <a:avLst>
              <a:gd name="adj" fmla="val 0"/>
            </a:avLst>
          </a:prstGeom>
          <a:solidFill>
            <a:srgbClr val="00664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64516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858000" y="64262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664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核心提示：使用 string 容器前必须包含头文件 #include &lt;string&gt;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动态数组（3级入门·4级核心）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079500"/>
            <a:ext cx="11176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71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795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push_back()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8582" flipH="false" flipV="false">
            <a:off x="698517" y="2152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35000" y="22225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在容器尾部添加新元素，是vector最常用的插入方式，平均效率极高。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65500" y="1524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1714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937000" y="1676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pop_back()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8582" flipH="false" flipV="false">
            <a:off x="3556017" y="2152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492500" y="22225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删除容器尾部的最后一个元素，仅改变尾指针，不会触发内存重排，效率高。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" y="3175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3365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079500" y="3327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size() / empty()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8582" flipH="false" flipV="false">
            <a:off x="698517" y="3803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35000" y="38735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size()返回元素总数；empty()判断是否为空（比size()==0更高效）。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365500" y="3175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556000" y="33655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3937000" y="33274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[] 下标 / at()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8582" flipH="false" flipV="false">
            <a:off x="3556017" y="3803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3492500" y="3873500"/>
            <a:ext cx="2413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[] 直接访问不做越界检查；at() 会进行越界检查并抛出异常，更安全。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8000" y="4826000"/>
            <a:ext cx="558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" y="50165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079500" y="4978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clear() / insert() / erase()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8384" flipH="false" flipV="false">
            <a:off x="698508" y="5454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698500" y="55245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clear()清空所有元素；insert/erase用于任意位置操作，但可能导致元素移动，频繁使用效率较低。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5390177" flipH="false" flipV="false">
            <a:off x="4254500" y="3740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4E3B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6731000" y="1524000"/>
            <a:ext cx="5080000" cy="3556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921500" y="17145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175500" y="17145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429500" y="17145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6" id="36"/>
          <p:cNvCxnSpPr/>
          <p:nvPr/>
        </p:nvCxnSpPr>
        <p:spPr>
          <a:xfrm rot="-8594" flipH="false" flipV="false">
            <a:off x="6731008" y="2089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6858000" y="2222500"/>
            <a:ext cx="4826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#include</a:t>
            </a: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&lt;vector&gt; // 包含头文件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5C07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</a:t>
            </a: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main() {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vector&lt;int&gt; v; // 定义int类型的vector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v.push_back(10); // 添加元素 10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v.push_back(20); // 添加元素 20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v.pop_back(); // 删除尾部元素(20)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return</a:t>
            </a: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0;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731000" y="5334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858000" y="5461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是连续存储的动态数组，支持随机访问，尾部插入/删除效率极高。它是C++中最常用的容器，也是GESP 4级考试的重点考察对象。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0" y="6553200"/>
            <a:ext cx="12192000" cy="304800"/>
          </a:xfrm>
          <a:prstGeom prst="roundRect">
            <a:avLst>
              <a:gd name="adj" fmla="val 0"/>
            </a:avLst>
          </a:prstGeom>
          <a:solidFill>
            <a:srgbClr val="064E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254000" y="6578600"/>
            <a:ext cx="1168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GESP 4级必考考点 · C++标准库中应用最广泛的序列式容器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stack 栈 &amp; queue 队列（5级原理·6级STL）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073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F513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11176000" cy="2413000"/>
          </a:xfrm>
          <a:prstGeom prst="roundRect">
            <a:avLst>
              <a:gd name="adj" fmla="val 0"/>
            </a:avLst>
          </a:prstGeom>
          <a:solidFill>
            <a:srgbClr val="0F5132">
              <a:alpha val="6000"/>
            </a:srgbClr>
          </a:solidFill>
          <a:ln cmpd="sng" cap="flat">
            <a:solidFill>
              <a:srgbClr val="05372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460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1422400"/>
            <a:ext cx="571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01. 栈 (Stack) — 后进先出 (LIFO) 数据结构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7237" flipH="false" flipV="false">
            <a:off x="698507" y="2025650"/>
            <a:ext cx="603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F513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98500" y="2159000"/>
            <a:ext cx="3048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仅允许在表尾（栈顶）进行插入和删除操作，表头为栈底。数据像堆叠的盘子，最后放上去的最先被取走。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37000" y="2159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F5132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22225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push(入栈)、pop(出栈，不返回值)、top(取栈顶)、size(大小)、empty(判空)。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78514" flipH="false" flipV="false">
            <a:off x="6096000" y="24701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F51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302500" y="1460500"/>
            <a:ext cx="4191000" cy="2032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29500" y="1587500"/>
            <a:ext cx="393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stack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&lt;int&gt; st; // 定义int类型栈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st.push(1); st.push(2); // 压入元素: [1, 2]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 &lt;&lt; st.top(); // 输出栈顶: 2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st.pop(); // 弹出栈顶，现在栈内: [1]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注意：pop()不返回元素，需先top()再pop()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3937000"/>
            <a:ext cx="11176000" cy="2413000"/>
          </a:xfrm>
          <a:prstGeom prst="roundRect">
            <a:avLst>
              <a:gd name="adj" fmla="val 0"/>
            </a:avLst>
          </a:prstGeom>
          <a:solidFill>
            <a:srgbClr val="0F5132">
              <a:alpha val="6000"/>
            </a:srgbClr>
          </a:solidFill>
          <a:ln cmpd="sng" cap="flat">
            <a:solidFill>
              <a:srgbClr val="053720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4127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70000" y="4089400"/>
            <a:ext cx="571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02. 队列 (Queue) — 先进先出 (FIFO) 数据结构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7237" flipH="false" flipV="false">
            <a:off x="698507" y="4692650"/>
            <a:ext cx="603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F5132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98500" y="4826000"/>
            <a:ext cx="3048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允许在表尾（队尾）插入元素，在表头（队首）删除元素。类似于生活中的排队，先到先得，顺序处理。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937000" y="4826000"/>
            <a:ext cx="2984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0F5132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064000" y="4889500"/>
            <a:ext cx="2730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核心接口：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push(队尾入列)、pop(队首出列)、front(队首元素)、back(队尾元素)、size、empty。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78514" flipH="false" flipV="false">
            <a:off x="6096000" y="51371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F51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7302500" y="4127500"/>
            <a:ext cx="4191000" cy="2032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429500" y="4254500"/>
            <a:ext cx="393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queue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&lt;int&gt; q; // 定义int类型队列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q.push(1); q.push(2); // 入队: [1, 2]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 &lt;&lt; q.front(); // 输出队首: 1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q.pop(); // 队首出列，现在队列: [2]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front()访问队首，back()访问队尾元素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8000" y="6477000"/>
            <a:ext cx="11176000" cy="304800"/>
          </a:xfrm>
          <a:prstGeom prst="roundRect">
            <a:avLst>
              <a:gd name="adj" fmla="val 0"/>
            </a:avLst>
          </a:prstGeom>
          <a:solidFill>
            <a:srgbClr val="0F5132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8000" y="6477000"/>
            <a:ext cx="1117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F51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核心提示：使用标准库中的 stack 和 queue 容器适配器时，必须包含对应的头文件：#include &lt;stack&gt; 和 #include &lt;queue&gt;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4445000"/>
            <a:ext cx="5080000" cy="508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priority_queue 优先级队列（7级）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0795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53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5240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" y="152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65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06500" y="1625600"/>
            <a:ext cx="425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核心机制：自动排序的容器适配器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队列内部元素会按照一定规则自动排序，队首（top）始终是优先级最高的元素（最大值或最小值），底层通常基于堆（Heap）实现。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" y="2921000"/>
            <a:ext cx="55245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292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304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06500" y="3022600"/>
            <a:ext cx="4254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默认规则：大顶堆 (Max-Heap)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如果不指定比较规则，priority_queue 默认会构建一个大顶堆，即队列头部永远是当前队列中的最大值，符合“优先级”的直观认知。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" y="4191000"/>
            <a:ext cx="55245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1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4318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06500" y="4292600"/>
            <a:ext cx="4254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小顶堆实现：自定义比较器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通过指定底层容器为 vector 并传入 greater&lt;int&gt; 作为比较函数，可实现小顶堆（队首为最小值），这是高频考点。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59500" y="1524000"/>
            <a:ext cx="5651500" cy="3746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7145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1714500"/>
            <a:ext cx="127000" cy="1270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58000" y="1714500"/>
            <a:ext cx="127000" cy="127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2" id="22"/>
          <p:cNvCxnSpPr/>
          <p:nvPr/>
        </p:nvCxnSpPr>
        <p:spPr>
          <a:xfrm rot="-7725" flipH="false" flipV="false">
            <a:off x="6159507" y="2025650"/>
            <a:ext cx="565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0" y="2159000"/>
            <a:ext cx="5270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&lt;queue&gt;</a:t>
            </a:r>
            <a:r>
              <a:rPr lang="en-US" b="false" i="false" strike="noStrike" u="none"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引入头文件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priority_queue</a:t>
            </a: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&lt;int&gt; pq;</a:t>
            </a:r>
            <a:r>
              <a:rPr lang="en-US" b="false" i="false" strike="noStrike" u="none"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默认大顶堆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pq.push(3); pq.push(1); pq.push(2);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cout &lt;&lt; pq.top();</a:t>
            </a:r>
            <a:r>
              <a:rPr lang="en-US" b="false" i="false" strike="noStrike" u="none"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输出结果为 3 (最大值)</a:t>
            </a:r>
          </a:p>
        </p:txBody>
      </p:sp>
      <p:cxnSp>
        <p:nvCxnSpPr>
          <p:cNvPr name="Connector 24" id="24"/>
          <p:cNvCxnSpPr/>
          <p:nvPr/>
        </p:nvCxnSpPr>
        <p:spPr>
          <a:xfrm rot="-8283" flipH="false" flipV="false">
            <a:off x="6350008" y="3549650"/>
            <a:ext cx="527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350000" y="3683000"/>
            <a:ext cx="5270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priority_queue</a:t>
            </a: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&lt;int, vector&lt;int&gt;, greater&lt;int&gt;&gt; minpq;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minpq.push(3); minpq.push(1);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cout &lt;&lt; minpq.top();</a:t>
            </a:r>
            <a:r>
              <a:rPr lang="en-US" b="false" i="false" strike="noStrike" u="none" sz="1300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// 输出结果为 1 (最小值)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81000" y="5588000"/>
            <a:ext cx="11430000" cy="889000"/>
          </a:xfrm>
          <a:prstGeom prst="roundRect">
            <a:avLst>
              <a:gd name="adj" fmla="val 0"/>
            </a:avLst>
          </a:prstGeom>
          <a:solidFill>
            <a:srgbClr val="14532D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5651500"/>
            <a:ext cx="5524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核心成员函数：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push(elem) 入队 | pop() 出队 | top() 访问队首 | size() 元素个数 | empty() 判断空</a:t>
            </a:r>
          </a:p>
        </p:txBody>
      </p:sp>
      <p:cxnSp>
        <p:nvCxnSpPr>
          <p:cNvPr name="Connector 28" id="28"/>
          <p:cNvCxnSpPr/>
          <p:nvPr/>
        </p:nvCxnSpPr>
        <p:spPr>
          <a:xfrm rot="5331254" flipH="false" flipV="false">
            <a:off x="58420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350000" y="5651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GESP 7级考点与应用：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重点考察小顶堆的定义方式及核心函数的使用；常用于贪心算法、Dijkstra 最短路径算法等场景中。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04000" y="0"/>
            <a:ext cx="5588000" cy="6858000"/>
          </a:xfrm>
          <a:prstGeom prst="roundRect">
            <a:avLst>
              <a:gd name="adj" fmla="val 0"/>
            </a:avLst>
          </a:prstGeom>
          <a:solidFill>
            <a:srgbClr val="064E3B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set / multiset 集合（7级）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64E3B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588000" cy="1397000"/>
          </a:xfrm>
          <a:prstGeom prst="roundRect">
            <a:avLst>
              <a:gd name="adj" fmla="val 0"/>
            </a:avLst>
          </a:prstGeom>
          <a:solidFill>
            <a:srgbClr val="064E3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714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1651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核心特性：有序性与唯一性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384" flipH="false" flipV="false">
            <a:off x="698508" y="2152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4E3B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98500" y="2222500"/>
            <a:ext cx="520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set 容器自动对元素进行排序并强制去重；multiset 允许存储重复元素，其他特性与 set 一致，常用于处理需要有序且可重复的数据场景。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175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064E3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3365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143000" y="33274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底层数据结构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8582" flipH="false" flipV="false">
            <a:off x="698517" y="3803650"/>
            <a:ext cx="2349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4E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98500" y="39370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基于红黑树（RB-Tree）实现，这是一种自平衡的二叉搜索树，保证了增删查的时间复杂度均为 O(log n)。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65500" y="3175000"/>
            <a:ext cx="2730500" cy="1651000"/>
          </a:xfrm>
          <a:prstGeom prst="roundRect">
            <a:avLst>
              <a:gd name="adj" fmla="val 0"/>
            </a:avLst>
          </a:prstGeom>
          <a:solidFill>
            <a:srgbClr val="064E3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556000" y="3365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000500" y="33274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迭代器遍历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8582" flipH="false" flipV="false">
            <a:off x="3556017" y="3803650"/>
            <a:ext cx="2349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4E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56000" y="3937000"/>
            <a:ext cx="234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仅支持双向迭代器，不支持随机访问。通过 set&lt;int&gt;::iterator 进行遍历，输出顺序即为元素的排序顺序。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5080000"/>
            <a:ext cx="5588000" cy="1270000"/>
          </a:xfrm>
          <a:prstGeom prst="roundRect">
            <a:avLst>
              <a:gd name="adj" fmla="val 0"/>
            </a:avLst>
          </a:prstGeom>
          <a:solidFill>
            <a:srgbClr val="064E3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8500" y="52070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常用 API：</a:t>
            </a:r>
            <a:r>
              <a:rPr lang="en-US" b="false" i="false" strike="noStrike" u="none" sz="14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insert() (插入), erase() (删除), find() (查找), count() (统计), size() (大小), lower_bound() / upper_bound() (边界查找)。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1524000"/>
            <a:ext cx="5080000" cy="3810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94500" y="17145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048500" y="17145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302500" y="17145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6" id="26"/>
          <p:cNvCxnSpPr/>
          <p:nvPr/>
        </p:nvCxnSpPr>
        <p:spPr>
          <a:xfrm rot="-8594" flipH="false" flipV="false">
            <a:off x="6604008" y="2025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794500" y="2159000"/>
            <a:ext cx="4699000" cy="298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b="false" i="false" strike="noStrike" u="none" sz="130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&lt;set&gt;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&lt;int&gt; s;</a:t>
            </a:r>
            <a:r>
              <a:rPr lang="en-US" b="false" i="false" strike="noStrike" u="none" sz="1300">
                <a:solidFill>
                  <a:srgbClr val="ABB2BF">
                    <a:alpha val="60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// 定义空set集合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s.insert(3); s.insert(1); s.insert(2);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s.insert(2);</a:t>
            </a:r>
            <a:r>
              <a:rPr lang="en-US" b="false" i="false" strike="noStrike" u="none" sz="1300">
                <a:solidFill>
                  <a:srgbClr val="ABB2BF">
                    <a:alpha val="60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// 重复元素，自动忽略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int sz = s.size();</a:t>
            </a:r>
            <a:r>
              <a:rPr lang="en-US" b="false" i="false" strike="noStrike" u="none" sz="1300">
                <a:solidFill>
                  <a:srgbClr val="ABB2BF">
                    <a:alpha val="60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// sz = 3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int cnt = s.count(2);</a:t>
            </a:r>
            <a:r>
              <a:rPr lang="en-US" b="false" i="false" strike="noStrike" u="none" sz="1300">
                <a:solidFill>
                  <a:srgbClr val="ABB2BF">
                    <a:alpha val="60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// cnt = 1 (唯一性)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if (s.find(2) != s.end()) { ... }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BB2BF">
                    <a:alpha val="60000"/>
                  </a:srgbClr>
                </a:solidFill>
                <a:latin typeface="Consolas"/>
                <a:ea typeface="Consolas"/>
                <a:cs typeface="Consolas"/>
                <a:sym typeface="Consolas"/>
              </a:rPr>
              <a:t>// 遍历输出: 1 2 3 (已自动排序)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04000" y="5588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059669">
              <a:alpha val="10000"/>
            </a:srgbClr>
          </a:solidFill>
          <a:ln w="12700" cmpd="sng" cap="flat">
            <a:solidFill>
              <a:srgbClr val="059669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94500" y="5778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239000" y="5689600"/>
            <a:ext cx="431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所有 set/multiset 相关功能都需要包含头文件 &lt;set&gt;，且元素类型必须支持比较运算。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4D3C">
                <a:alpha val="100000"/>
              </a:srgbClr>
            </a:gs>
            <a:gs pos="100000">
              <a:srgbClr val="106B54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map / multimap 映射（7级）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200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558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714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1587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FCD34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核心特点：有序唯一的键值对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Key-Value 结构存储，Key 具备唯一性，且容器会自动按 Key 的升序排列，multimap 允许键重复。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667000"/>
            <a:ext cx="558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2857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2730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FCD34D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底层基石：红黑树 (Red-Black Tree)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一种自平衡的二叉查找树，确保了插入、删除、查找等核心操作的时间复杂度稳定在 O(log n) 级别。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810000"/>
            <a:ext cx="558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000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70000" y="3873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FCD34D"/>
                </a:solidFill>
                <a:latin typeface="Noto Sans SC"/>
                <a:ea typeface="Noto Sans SC"/>
                <a:cs typeface="Noto Sans SC"/>
                <a:sym typeface="Noto Sans SC"/>
              </a:rPr>
              <a:t>高频接口：操作便捷高效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插入：insert() / []；删除：erase()；查找：find()；统计：count()；容量：size()。find 未找到返回 end()。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4953000"/>
            <a:ext cx="5588000" cy="1270000"/>
          </a:xfrm>
          <a:prstGeom prst="roundRect">
            <a:avLst>
              <a:gd name="adj" fmla="val 0"/>
            </a:avLst>
          </a:prstGeom>
          <a:solidFill>
            <a:srgbClr val="FCD34D">
              <a:alpha val="10000"/>
            </a:srgbClr>
          </a:solidFill>
          <a:ln w="12700" cmpd="sng" cap="flat">
            <a:solidFill>
              <a:srgbClr val="FCD34D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98500" y="5143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70000" y="50165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FCD34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关键注意与遍历技巧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警惕 [] 运算符的副作用：访问不存在的 Key 会自动插入默认值（如 int=0）。遍历时迭代器指向 pair 类型，通过 it-&gt;first 访问键，it-&gt;second 访问值。</a:t>
            </a:r>
          </a:p>
        </p:txBody>
      </p:sp>
      <p:cxnSp>
        <p:nvCxnSpPr>
          <p:cNvPr name="Connector 16" id="16"/>
          <p:cNvCxnSpPr/>
          <p:nvPr/>
        </p:nvCxnSpPr>
        <p:spPr>
          <a:xfrm rot="5390708" flipH="false" flipV="false">
            <a:off x="39370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1524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16764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21500" y="1676400"/>
            <a:ext cx="127000" cy="1270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75500" y="1676400"/>
            <a:ext cx="127000" cy="127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1" id="21"/>
          <p:cNvCxnSpPr/>
          <p:nvPr/>
        </p:nvCxnSpPr>
        <p:spPr>
          <a:xfrm rot="-8384" flipH="false" flipV="false">
            <a:off x="6477008" y="1962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04000" y="2095500"/>
            <a:ext cx="4953000" cy="260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&lt;map&gt; // 必备头文件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&lt;string, int&gt; fruit_map; // 定义映射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fruit_map[</a:t>
            </a:r>
            <a:r>
              <a:rPr lang="en-US" b="false" i="false" strike="noStrike" u="none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] = 5; // 插入键值对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fruit_map[</a:t>
            </a:r>
            <a:r>
              <a:rPr lang="en-US" b="false" i="false" strike="noStrike" u="none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]++; // 修改值 (5 -&gt; 6)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Consolas"/>
                <a:ea typeface="Consolas"/>
                <a:cs typeface="Consolas"/>
                <a:sym typeface="Consolas"/>
              </a:rPr>
              <a:t>// 查找与统计：find返回迭代器，count返回个数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(fruit_map.find(</a:t>
            </a:r>
            <a:r>
              <a:rPr lang="en-US" b="false" i="false" strike="noStrike" u="none" sz="130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en-US" b="false" i="false" strike="noStrike" u="none" sz="1300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) != fruit_map.end()) { ... }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cmpd="sng" cap="flat">
            <a:solidFill>
              <a:srgbClr val="E6CFCF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67500" y="5270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75500" y="5207000"/>
            <a:ext cx="4381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常用于统计数据频率（如词频统计）、需要按键有序排列的场景，或作为关联数组快速检索，替代无序的 unordered_map。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D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unordered 哈希容器（8级拓展）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397000"/>
            <a:ext cx="5524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65F4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397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65F4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587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70000" y="1549400"/>
            <a:ext cx="444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核心机制：哈希表驱动的无序存储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703" flipH="false" flipV="false">
            <a:off x="762008" y="2152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5F4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2286000"/>
            <a:ext cx="5016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底层基于哈希表实现，元素存储无序，不按键值排序。相比有序容器(set/map)，其最大优势是平均情况下的插入、删除和查找操作时间复杂度均为 O(1)，性能更高效。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397000"/>
            <a:ext cx="5524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65F4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397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13500" y="1587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921500" y="1549400"/>
            <a:ext cx="444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接口兼容：易用但有局限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703" flipH="false" flipV="false">
            <a:off x="6413508" y="2152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65F4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13500" y="2286000"/>
            <a:ext cx="5016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函数用法与 set/map 基本一致（如 insert、count、find 等），学习成本低。但由于内部无序，无法使用 begin()/end() 进行有序遍历，也不支持 lower_bound/upper_bound 等排序相关的算法操作。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064000"/>
            <a:ext cx="5524500" cy="19050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" y="4191000"/>
            <a:ext cx="527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&lt;unordered_set&gt; // 引入头文件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unordered_set&lt;int&gt;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us; // 定义无序整数集合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us.insert(3); us.insert(1); // 插入元素，顺序无关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if (us.count(1))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{ /* 查找元素，平均 O(1) 时间 */ }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59500" y="4064000"/>
            <a:ext cx="5524500" cy="19050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86500" y="4191000"/>
            <a:ext cx="52705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&lt;unordered_map&gt; // 引入头文件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unordered_map&lt;string, int&gt;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um; // 键值对映射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um["hello"] = 10; // 直接赋值插入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8D391"/>
                </a:solidFill>
                <a:latin typeface="Consolas"/>
                <a:ea typeface="Consolas"/>
                <a:cs typeface="Consolas"/>
                <a:sym typeface="Consolas"/>
              </a:rPr>
              <a:t>auto it = um.find("world");</a:t>
            </a:r>
            <a:r>
              <a:rPr lang="en-US" b="false" i="false" strike="noStrike" u="none" sz="1300">
                <a:solidFill>
                  <a:srgbClr val="D1D5DB"/>
                </a:solidFill>
                <a:latin typeface="Consolas"/>
                <a:ea typeface="Consolas"/>
                <a:cs typeface="Consolas"/>
                <a:sym typeface="Consolas"/>
              </a:rPr>
              <a:t>// 快速查找键值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6223000"/>
            <a:ext cx="11176000" cy="444500"/>
          </a:xfrm>
          <a:prstGeom prst="roundRect">
            <a:avLst>
              <a:gd name="adj" fmla="val 0"/>
            </a:avLst>
          </a:prstGeom>
          <a:solidFill>
            <a:srgbClr val="065F4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" y="6286500"/>
            <a:ext cx="1092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GESP 8级拓展内容：unordered容器通过哈希函数实现，在插入、删除和查找操作上拥有更优的平均时间复杂度，但不支持有序遍历。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64E3B">
                <a:alpha val="100000"/>
              </a:srgbClr>
            </a:gs>
            <a:gs pos="100000">
              <a:srgbClr val="0F766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-1270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3810000" cy="3810000"/>
          </a:xfrm>
          <a:prstGeom prst="ellipse">
            <a:avLst/>
          </a:prstGeom>
          <a:solidFill>
            <a:srgbClr val="34D399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2032000"/>
            <a:ext cx="4064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FFFFFF">
                    <a:alpha val="1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5080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PHASE 03 / 核心逻辑构建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7722" flipH="false" flipV="false">
            <a:off x="3429000" y="3549661"/>
            <a:ext cx="355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715000" y="2222500"/>
            <a:ext cx="596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5000" y="3683000"/>
            <a:ext cx="1143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0" y="4191000"/>
            <a:ext cx="584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排序 · 二分 · 统计 · 修改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深入探索数据处理的底层逻辑，掌握算法优化的关键范式，为复杂业务场景提供高效支撑。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6413500"/>
            <a:ext cx="12192000" cy="444500"/>
          </a:xfrm>
          <a:prstGeom prst="roundRect">
            <a:avLst>
              <a:gd name="adj" fmla="val 0"/>
            </a:avLst>
          </a:prstGeom>
          <a:solidFill>
            <a:srgbClr val="0000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413500"/>
            <a:ext cx="3048000" cy="444500"/>
          </a:xfrm>
          <a:prstGeom prst="roundRect">
            <a:avLst>
              <a:gd name="adj" fmla="val 0"/>
            </a:avLst>
          </a:prstGeom>
          <a:solidFill>
            <a:srgbClr val="34D399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6515100"/>
            <a:ext cx="863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ALGORITHM LOGIC &amp; DATA PROCESSING STRATEGY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0"/>
            <a:ext cx="3175000" cy="3175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sort 排序算法（4级基础·7级进阶）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073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4532D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714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1651000"/>
            <a:ext cx="450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核心头文件引入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必须包含标准算法库头文件：#include &lt;algorithm&gt;，这是使用 sort 函数的前提条件。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794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298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2921000"/>
            <a:ext cx="450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默认规则与复杂度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默认按“升序”排列，底层优化实现，时间复杂度稳定在 O(n log n)，效率极高。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4000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191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4127500"/>
            <a:ext cx="450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广泛的容器适用性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适用于随机访问迭代器，支持 vector、普通数组(array)、string 等多种数据结构的排序操作。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5207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98500" y="5397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52705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支持自定义排序规则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可传入比较函数或使用 greater&lt;int&gt;() 实现降序；也可自定义结构体比较逻辑，满足复杂需求。</a:t>
            </a:r>
          </a:p>
        </p:txBody>
      </p:sp>
      <p:cxnSp>
        <p:nvCxnSpPr>
          <p:cNvPr name="Connector 18" id="18"/>
          <p:cNvCxnSpPr/>
          <p:nvPr/>
        </p:nvCxnSpPr>
        <p:spPr>
          <a:xfrm rot="5390832" flipH="false" flipV="false">
            <a:off x="3841750" y="3898908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350000" y="1524000"/>
            <a:ext cx="5334000" cy="4762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17145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94500" y="17145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48500" y="17145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3" id="23"/>
          <p:cNvCxnSpPr/>
          <p:nvPr/>
        </p:nvCxnSpPr>
        <p:spPr>
          <a:xfrm rot="-8185" flipH="false" flipV="false">
            <a:off x="6350008" y="2089150"/>
            <a:ext cx="533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540500" y="2286000"/>
            <a:ext cx="495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08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vector</a:t>
            </a:r>
            <a:r>
              <a:rPr lang="en-US" b="false" i="false" strike="noStrike" u="none" sz="130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&lt;int&gt; v = {3, 1, 4, 2};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默认升序排序，无需额外参数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59E0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sort</a:t>
            </a:r>
            <a:r>
              <a:rPr lang="en-US" b="false" i="false" strike="noStrike" u="none" sz="130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(v.begin(), v.end()); // 结果: [1, 2, 3, 4]</a:t>
            </a:r>
          </a:p>
        </p:txBody>
      </p:sp>
      <p:cxnSp>
        <p:nvCxnSpPr>
          <p:cNvPr name="Connector 25" id="25"/>
          <p:cNvCxnSpPr/>
          <p:nvPr/>
        </p:nvCxnSpPr>
        <p:spPr>
          <a:xfrm rot="-8814" flipH="false" flipV="false">
            <a:off x="6540508" y="3549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540500" y="368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使用 greater&lt;int&gt;() 实现降序排列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59E0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sort</a:t>
            </a:r>
            <a:r>
              <a:rPr lang="en-US" b="false" i="false" strike="noStrike" u="none" sz="130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(v.begin(), v.end(), greater&lt;int&gt;());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结果: [4, 3, 2, 1]</a:t>
            </a:r>
          </a:p>
        </p:txBody>
      </p:sp>
      <p:cxnSp>
        <p:nvCxnSpPr>
          <p:cNvPr name="Connector 27" id="27"/>
          <p:cNvCxnSpPr/>
          <p:nvPr/>
        </p:nvCxnSpPr>
        <p:spPr>
          <a:xfrm rot="-8814" flipH="false" flipV="false">
            <a:off x="6540508" y="481965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540500" y="4953000"/>
            <a:ext cx="495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int a[] = {3, 1, 2};</a:t>
            </a:r>
            <a:r>
              <a:rPr lang="en-US" b="false" i="false" strike="noStrike" u="none" sz="1300">
                <a:solidFill>
                  <a:srgbClr val="6B728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普通数组排序</a:t>
            </a:r>
            <a:r>
              <a:rPr lang="en-US" b="false" i="false" strike="noStrike" u="none" sz="130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59E0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sort</a:t>
            </a:r>
            <a:r>
              <a:rPr lang="en-US" b="false" i="false" strike="noStrike" u="none" sz="1300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(a, a + 3);</a:t>
            </a:r>
            <a:r>
              <a:rPr lang="en-US" b="false" i="false" strike="noStrike" u="none" sz="1300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地址传参，a+3表示结束位置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0" y="6540500"/>
            <a:ext cx="12192000" cy="317500"/>
          </a:xfrm>
          <a:prstGeom prst="roundRect">
            <a:avLst>
              <a:gd name="adj" fmla="val 0"/>
            </a:avLst>
          </a:prstGeom>
          <a:solidFill>
            <a:srgbClr val="1453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" y="6565900"/>
            <a:ext cx="1117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重点提示：GESP 4级考试核心考点，C++ 标准库中最常用、最高效的通用排序算法。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445000"/>
            <a:ext cx="5080000" cy="508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二分查找算法（6级·7级）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143000"/>
            <a:ext cx="11430000" cy="38100"/>
          </a:xfrm>
          <a:prstGeom prst="roundRect">
            <a:avLst>
              <a:gd name="adj" fmla="val 0"/>
            </a:avLst>
          </a:prstGeom>
          <a:solidFill>
            <a:srgbClr val="14532D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524000"/>
            <a:ext cx="76200" cy="3048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" y="14859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01. 基础考点：binary_search 存在性判断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20955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DCFCE7">
              <a:alpha val="50000"/>
            </a:srgbClr>
          </a:solidFill>
          <a:ln w="12700" cmpd="sng" cap="flat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0795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功能定位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3481" flipH="false" flipV="false">
            <a:off x="571512" y="2787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571500" y="2921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用于判断指定元素是否存在于有序区间中。返回值为布尔类型（bool），找到返回 true，否则返回 false。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279900" y="20955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FEF3C7">
              <a:alpha val="50000"/>
            </a:srgbClr>
          </a:solidFill>
          <a:ln w="12700" cmpd="sng" cap="flat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704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9784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核心前提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3481" flipH="false" flipV="false">
            <a:off x="4470412" y="2787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770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470400" y="2921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区间必须是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升序有序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的。如果数组无序，使用该函数会导致未定义行为（UB），无法保证正确性。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78800" y="2095500"/>
            <a:ext cx="3632200" cy="177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9CA3A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69300" y="2286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877300" y="2286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标准调用格式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3481" flipH="false" flipV="false">
            <a:off x="8369312" y="2787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69300" y="2921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binary_search</a:t>
            </a:r>
            <a:r>
              <a:rPr lang="en-US" b="false" i="false" strike="noStrike" u="none" sz="13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(v.begin(), v.end(), target);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参数：起始迭代器、结束迭代器、目标值。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3819" flipH="false" flipV="false">
            <a:off x="381004" y="4184650"/>
            <a:ext cx="1143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81000" y="4381500"/>
            <a:ext cx="76200" cy="3048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1500" y="4343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02. 进阶考点：lower_bound / upper_bound 边界定位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81000" y="4889500"/>
            <a:ext cx="5651500" cy="1397000"/>
          </a:xfrm>
          <a:prstGeom prst="roundRect">
            <a:avLst>
              <a:gd name="adj" fmla="val 0"/>
            </a:avLst>
          </a:prstGeom>
          <a:solidFill>
            <a:srgbClr val="DCFCE7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50165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71500" y="5080000"/>
            <a:ext cx="2603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lower_bound (下界)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返回区间中第一个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大于等于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(≥) target 的元素迭代器。若不存在，则返回 end()。</a:t>
            </a:r>
          </a:p>
        </p:txBody>
      </p:sp>
      <p:cxnSp>
        <p:nvCxnSpPr>
          <p:cNvPr name="Connector 29" id="29"/>
          <p:cNvCxnSpPr/>
          <p:nvPr/>
        </p:nvCxnSpPr>
        <p:spPr>
          <a:xfrm rot="5357030" flipH="false" flipV="false">
            <a:off x="2857500" y="5581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3429000" y="5016500"/>
            <a:ext cx="2540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92500" y="5080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upper_bound (上界)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返回区间中第一个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严格大于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(&gt;) target 的元素迭代器。常用于统计元素出现次数。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223000" y="4889500"/>
            <a:ext cx="5651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50000" y="5016500"/>
            <a:ext cx="273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13500" y="5080000"/>
            <a:ext cx="2603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实战应用技巧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统计个数：upper - lower；降序查找需添加 greater&lt;int&gt;() 比较器作为第四个参数。</a:t>
            </a:r>
          </a:p>
        </p:txBody>
      </p:sp>
      <p:cxnSp>
        <p:nvCxnSpPr>
          <p:cNvPr name="Connector 35" id="35"/>
          <p:cNvCxnSpPr/>
          <p:nvPr/>
        </p:nvCxnSpPr>
        <p:spPr>
          <a:xfrm rot="5357030" flipH="false" flipV="false">
            <a:off x="8572500" y="5581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9144000" y="50165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207500" y="5080000"/>
            <a:ext cx="2476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示例计算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// v={1,2,3,7,7,7}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low_idx = 3, up_idx = 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count = 6 - 3 = 3</a:t>
            </a:r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0" y="6540500"/>
            <a:ext cx="12192000" cy="317500"/>
          </a:xfrm>
          <a:prstGeom prst="roundRect">
            <a:avLst>
              <a:gd name="adj" fmla="val 0"/>
            </a:avLst>
          </a:prstGeom>
          <a:solidFill>
            <a:srgbClr val="1453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254000" y="6578600"/>
            <a:ext cx="1168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注意：所有二分查找算法均需包含头文件 #include &lt;algorithm&gt;，且操作区间必须保证有序性。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016000"/>
            <a:ext cx="3810000" cy="3810000"/>
          </a:xfrm>
          <a:prstGeom prst="ellipse">
            <a:avLst/>
          </a:prstGeom>
          <a:solidFill>
            <a:srgbClr val="14532D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3175000" cy="3175000"/>
          </a:xfrm>
          <a:prstGeom prst="ellipse">
            <a:avLst/>
          </a:prstGeom>
          <a:solidFill>
            <a:srgbClr val="14532D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最值与统计算法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073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4532D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397000"/>
            <a:ext cx="5524500" cy="3238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14532D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587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79500" y="154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核心最值函数 (Value Functions)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488" flipH="false" flipV="false">
            <a:off x="698508" y="20256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98500" y="22225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286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基础二元比较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max(a, b) / min(a, b)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直接对两个数值进行大小比较，返回较大或较小值，适用于简单场景。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65500" y="22225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2286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区间迭代器查找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max_element / min_element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传入容器首尾迭代器，返回指向区间内最大/最小值元素的迭代器对象。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98500" y="3619500"/>
            <a:ext cx="5143500" cy="825500"/>
          </a:xfrm>
          <a:prstGeom prst="roundRect">
            <a:avLst>
              <a:gd name="adj" fmla="val 0"/>
            </a:avLst>
          </a:prstGeom>
          <a:solidFill>
            <a:srgbClr val="FEF3C7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7465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143000" y="3683000"/>
            <a:ext cx="457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关键注意：</a:t>
            </a:r>
            <a:r>
              <a:rPr lang="en-US" b="false" i="false" strike="noStrike" u="none" sz="1200">
                <a:solidFill>
                  <a:srgbClr val="451A03"/>
                </a:solidFill>
                <a:latin typeface="Noto Sans SC"/>
                <a:ea typeface="Noto Sans SC"/>
                <a:cs typeface="Noto Sans SC"/>
                <a:sym typeface="Noto Sans SC"/>
              </a:rPr>
              <a:t>区间最值函数返回的是迭代器（Iterator），而非直接的值。必须使用解引用运算符 '*' 才能获取实际数值。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86500" y="1397000"/>
            <a:ext cx="5524500" cy="32385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14532D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1587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154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02. 常用统计算法 (Statistics)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8488" flipH="false" flipV="false">
            <a:off x="6477008" y="20256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477000" y="22225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40500" y="2286000"/>
            <a:ext cx="1524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count()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统计容器中等于指定值 val 的元素个数。遍历区间进行严格匹配。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0" y="22225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18500" y="2286000"/>
            <a:ext cx="1524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count_if()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按自定义条件统计。接收谓词函数/表达式，统计满足条件的元素数量。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969500" y="2222500"/>
            <a:ext cx="165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033000" y="2286000"/>
            <a:ext cx="1524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accumulate()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计算区间内元素的累加和。需包含头文件 &lt;numeric&gt;，并指定初始值。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064000"/>
            <a:ext cx="5143500" cy="444500"/>
          </a:xfrm>
          <a:prstGeom prst="roundRect">
            <a:avLst>
              <a:gd name="adj" fmla="val 0"/>
            </a:avLst>
          </a:prstGeom>
          <a:solidFill>
            <a:srgbClr val="14532D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40500" y="4127500"/>
            <a:ext cx="5016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注：统计类算法不会修改原容器数据，属于非变序算法。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08000" y="5080000"/>
            <a:ext cx="7366000" cy="1270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" y="5207000"/>
            <a:ext cx="711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CD34D"/>
                </a:solidFill>
                <a:latin typeface="Consolas"/>
                <a:ea typeface="Consolas"/>
                <a:cs typeface="Consolas"/>
                <a:sym typeface="Consolas"/>
              </a:rPr>
              <a:t>vector&lt;int&gt; v = {3, 1, 4, 2};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A7F3D0"/>
                </a:solidFill>
                <a:latin typeface="Consolas"/>
                <a:ea typeface="Consolas"/>
                <a:cs typeface="Consolas"/>
                <a:sym typeface="Consolas"/>
              </a:rPr>
              <a:t>max_element(v.begin(), v.end()); // 结果: 4 | *min_element(v.begin(), v.end()); // 结果: 1</a:t>
            </a:r>
            <a:r>
              <a:rPr lang="en-US" b="false" i="false" strike="noStrike" u="none" sz="13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93C5FD"/>
                </a:solidFill>
                <a:latin typeface="Consolas"/>
                <a:ea typeface="Consolas"/>
                <a:cs typeface="Consolas"/>
                <a:sym typeface="Consolas"/>
              </a:rPr>
              <a:t>count(v.begin(), v.end(), 3); // 结果: 1 | accumulate(v.begin(), v.end(), 0); // 结果: 10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28000" y="5080000"/>
            <a:ext cx="3683000" cy="1270000"/>
          </a:xfrm>
          <a:prstGeom prst="roundRect">
            <a:avLst>
              <a:gd name="adj" fmla="val 0"/>
            </a:avLst>
          </a:prstGeom>
          <a:solidFill>
            <a:srgbClr val="14532D">
              <a:alpha val="10000"/>
            </a:srgbClr>
          </a:solidFill>
          <a:ln w="12700" cmpd="sng" cap="flat">
            <a:solidFill>
              <a:srgbClr val="14532D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18500" y="5270500"/>
            <a:ext cx="406400" cy="406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890000" y="5270500"/>
            <a:ext cx="2730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必备头文件引入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算法库核心：#include &lt;algorithm&gt;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求和 accumulate：#include &lt;numeric&gt;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C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6653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16653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381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修改操作算法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114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1651000"/>
            <a:ext cx="3683000" cy="24130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1841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79500" y="1841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01. reverse 区间反转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3222" flipH="false" flipV="false">
            <a:off x="571512" y="2406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71500" y="2540000"/>
            <a:ext cx="330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功能：将容器中 [begin, end) 区间内的元素顺序进行首尾颠倒。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reverse(v.begin(), v.end());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注：适用于 vector、string、array 等顺序容器。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54500" y="1651000"/>
            <a:ext cx="3683000" cy="24130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450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53000" y="1841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02. fill 元素填充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3222" flipH="false" flipV="false">
            <a:off x="4445012" y="2406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445000" y="2540000"/>
            <a:ext cx="330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功能：将容器中 [begin, end) 区间内的所有元素统一赋值为指定值 val。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fill(v.begin(), v.end(), 0);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场景：初始化数组、重置缓冲区数据等批量赋值操作。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651000"/>
            <a:ext cx="3683000" cy="24130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12700" cmpd="sng" cap="flat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1841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26500" y="18415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03. swap 数值交换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3222" flipH="false" flipV="false">
            <a:off x="8318512" y="2406650"/>
            <a:ext cx="330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6A34A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318500" y="2540000"/>
            <a:ext cx="330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功能：交换两个变量或两个容器的内容，是高效的交换操作。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swap(x, y); // 交换变量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优势：比手动定义临时变量交换更简洁、更具可读性。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81000" y="4318000"/>
            <a:ext cx="11430000" cy="1841500"/>
          </a:xfrm>
          <a:prstGeom prst="roundRect">
            <a:avLst>
              <a:gd name="adj" fmla="val 0"/>
            </a:avLst>
          </a:prstGeom>
          <a:solidFill>
            <a:srgbClr val="14532D">
              <a:alpha val="6000"/>
            </a:srgbClr>
          </a:solidFill>
          <a:ln w="25400" cmpd="sng" cap="flat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1000" y="4318000"/>
            <a:ext cx="1016000" cy="3302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1000" y="4318000"/>
            <a:ext cx="101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核心考点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71500" y="4826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04. unique 去重：只移除相邻重复元素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注意：unique 并非真正删除元素，而是将不重复元素移至前端，返回新的结束迭代器。</a:t>
            </a:r>
            <a:r>
              <a:rPr lang="en-US" b="true" i="false" strike="noStrike" u="none" sz="13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必须先排序！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标准流程：排序 (sort) → 去重 (unique) → 删除冗余 (erase)</a:t>
            </a:r>
          </a:p>
        </p:txBody>
      </p:sp>
      <p:cxnSp>
        <p:nvCxnSpPr>
          <p:cNvPr name="Connector 25" id="25"/>
          <p:cNvCxnSpPr/>
          <p:nvPr/>
        </p:nvCxnSpPr>
        <p:spPr>
          <a:xfrm rot="5361804" flipH="false" flipV="false">
            <a:off x="5778500" y="5264185"/>
            <a:ext cx="114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604000" y="4762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31000" y="4826000"/>
            <a:ext cx="469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sort(v.begin(), v.end());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auto ed = unique(v.begin(), v.end());</a:t>
            </a:r>
            <a:r>
              <a:rPr lang="en-US" b="false" i="false" strike="noStrike" u="none" sz="12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Consolas"/>
                <a:ea typeface="Consolas"/>
                <a:cs typeface="Consolas"/>
                <a:sym typeface="Consolas"/>
              </a:rPr>
              <a:t>v.erase(ed, v.end()); // 擦除末尾重复元素空间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81000" y="6350000"/>
            <a:ext cx="1143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4532D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★ 提示：unique 去重是 GESP 编程能力等级认证考试中的高频考察点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4E3B">
                <a:alpha val="100000"/>
              </a:srgbClr>
            </a:gs>
            <a:gs pos="100000">
              <a:srgbClr val="0F766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4445000"/>
            <a:ext cx="5080000" cy="5080000"/>
          </a:xfrm>
          <a:prstGeom prst="ellipse">
            <a:avLst/>
          </a:prstGeom>
          <a:solidFill>
            <a:srgbClr val="5EEAD4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21590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FFFFFF">
                    <a:alpha val="1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6777" flipH="false" flipV="false">
            <a:off x="3556000" y="3549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0" y="2032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常用库函数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3429000"/>
            <a:ext cx="1016000" cy="50800"/>
          </a:xfrm>
          <a:prstGeom prst="roundRect">
            <a:avLst>
              <a:gd name="adj" fmla="val 0"/>
            </a:avLst>
          </a:prstGeom>
          <a:solidFill>
            <a:srgbClr val="5EEAD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3810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cmath · cstring · cstdio —— C语言开发的核心工具集基石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8000" y="5080000"/>
            <a:ext cx="190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0" y="5270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096000" y="5232400"/>
            <a:ext cx="133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数学计算库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提供三角函数、指数、对数及数值运算的底层支持。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83500" y="5080000"/>
            <a:ext cx="190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810500" y="5270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191500" y="5232400"/>
            <a:ext cx="133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封装strcpy、strcat等函数，高效管理字符数组操作。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779000" y="5080000"/>
            <a:ext cx="1905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906000" y="5270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0287000" y="5232400"/>
            <a:ext cx="133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标准IO库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实现printf、scanf等核心接口，处理程序输入输出流。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5080000"/>
            <a:ext cx="3175000" cy="3175000"/>
          </a:xfrm>
          <a:prstGeom prst="ellipse">
            <a:avLst/>
          </a:prstGeom>
          <a:solidFill>
            <a:srgbClr val="14532D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常用库函数速查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4532D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524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14532D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6764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06500" y="1625600"/>
            <a:ext cx="2730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&lt;cmath&gt; 数学计算库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3750" flipH="false" flipV="false">
            <a:off x="698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35000" y="27305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abs(x) / sqrt(x)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计算数值的绝对值；计算非负数的平方根。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355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pow(x, y) / log(x)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求 x 的 y 次幂；自然对数(ln)或 log10 求常用对数。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" y="4445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ceil(x) / floor(x) / round(x)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向上取整(天花板)、向下取整(地板)、标准四舍五入取整，处理浮点数必备。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1524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14532D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08500" y="16764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16500" y="1625600"/>
            <a:ext cx="2730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&lt;cstring&gt; C风格字符串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3750" flipH="false" flipV="false">
            <a:off x="4508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445000" y="27305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strlen(s) / strcmp(a, b)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获取字符串有效长度；比较两个字符串的ASCII码大小关系。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55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strcpy(a, b) / strcat(a, b)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将字符串 b 复制到 a；将字符串 b 拼接到 a 的末尾。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4445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memset(a, 0, sizeof(a))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快速内存赋值，常用于初始化数组或清空缓冲区，按字节赋值，高效且常用。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1524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4532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1524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14532D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16764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26500" y="1625600"/>
            <a:ext cx="27305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&lt;cstdio&gt; 输入输出库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3750" flipH="false" flipV="false">
            <a:off x="8318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4532D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8255000" y="27305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scanf() / printf()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格式化输入输出函数，支持多种数据类型，是C/C++中最基础的IO方式。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55000" y="355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在默认同步开启的情况下，scanf/printf 的速度通常优于 cin/cout。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55000" y="44450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cin 加速技巧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添加代码：ios::sync_with_stdio(false); cin.tie(0); 可关闭同步，大幅提升cin速度。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" y="5842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14532D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98500" y="59817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1143000" y="5943600"/>
            <a:ext cx="1028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学习建议：根据算法竞赛或开发级别选择性掌握，重点熟练记忆高频函数的参数与返回值类型。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4F40">
                <a:alpha val="100000"/>
              </a:srgbClr>
            </a:gs>
            <a:gs pos="100000">
              <a:srgbClr val="126F5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255000" y="3175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017000" y="3937000"/>
            <a:ext cx="3556000" cy="3556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406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FFFFFF">
                    <a:alpha val="14902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05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762032" y="545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FFFFFF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5651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MODULE FIVE / LEVEL GUIDE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86777" flipH="false" flipV="false">
            <a:off x="3937000" y="3422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096000" y="2159000"/>
            <a:ext cx="558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按级别速查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69" flipH="false" flipV="false">
            <a:off x="6121440" y="354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AB30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096000" y="3937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分级学习 · 按需掌握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6000" y="5080000"/>
            <a:ext cx="546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将核心知识体系拆解为基础认知、进阶应用与精通拓展三个维度，精准匹配不同学习阶段的能力需求，帮助读者快速检索定位，实现高效系统化学习。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DF4">
                <a:alpha val="100000"/>
              </a:srgbClr>
            </a:gs>
            <a:gs pos="100000">
              <a:srgbClr val="DCFCE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3175000" cy="317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381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GESP 各级别必掌握内容速查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200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08000" y="1651000"/>
          <a:ext cx="10668000" cy="4838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3048000"/>
                <a:gridCol w="6350000"/>
              </a:tblGrid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级别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核心知识模块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12700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关键必掌握知识点清单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>
                        <a:alpha val="10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字符串基础应用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掌握字符串基础操作：length()获取长度、[]访问字符、+号拼接字符串、substr()截取子串，是处理文本数据的基石。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字符串进阶 &amp; 向量初探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深入字符串：find()查找字符、insert()插入、erase()删除；初识vector动态数组，掌握其基本的增删查改与遍历。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容器进阶 &amp; 常用算法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精通vector全套操作；掌握基础算法：sort()排序、max_element/min_element极值查找、count()统计元素出现次数。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线性结构原理 &amp; 填充反转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理解栈(Stack)与队列(Queue)的底层数组模拟实现；熟练运用reverse()反转容器、fill()批量填充数据。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STL容器 &amp; 查找去重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掌握STL标准库中的stack与queue；学习高效查找算法binary_search()，以及unique()配合erase()实现元素去重。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关联式容器 &amp; 边界查找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攻克有序关联容器set与map，优先级队列priority_queue；熟练使用lower_bound/upper_bound进行有序区间的二分查找。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064E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Level 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无序容器 &amp; 算法综合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91666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掌握高性能无序容器unordered_set/map，以及deque、list等特殊容器；综合运用STL算法大全解决复杂逻辑问题。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10B9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7" id="7"/>
          <p:cNvSpPr/>
          <p:nvPr/>
        </p:nvSpPr>
        <p:spPr>
          <a:xfrm rot="0" flipH="false" flipV="false">
            <a:off x="508000" y="59690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61087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6070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学习建议：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建议严格按照级别顺序循序渐进学习，重点夯实字符串与vector基础，再逐步攻克栈、队列及复杂关联容器。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4F32">
                <a:alpha val="100000"/>
              </a:srgbClr>
            </a:gs>
            <a:gs pos="100000">
              <a:srgbClr val="146F4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4445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890000" y="-1270000"/>
            <a:ext cx="5080000" cy="5080000"/>
          </a:xfrm>
          <a:prstGeom prst="ellipse">
            <a:avLst/>
          </a:prstGeom>
          <a:solidFill>
            <a:srgbClr val="A5E9C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2159000"/>
            <a:ext cx="4318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0">
                <a:solidFill>
                  <a:srgbClr val="FFFFFF">
                    <a:alpha val="1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54610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每一个细节的疏忽都可能成为扣分点，</a:t>
            </a: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提前预警，才能从容应对。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6777" flipH="false" flipV="false">
            <a:off x="3683000" y="3549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42000" y="1524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413500" y="1460500"/>
            <a:ext cx="5270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易错点与避坑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0" y="292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A5E9C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0" y="3429000"/>
            <a:ext cx="571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考级扣分重灾区 · 务必注意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4572000"/>
            <a:ext cx="5715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32500" y="4699000"/>
            <a:ext cx="533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深度解析考级中高频出现的失分场景，从操作规范到细节把控，结合最新评分标准逐一拆解。帮助考生精准识别盲区，建立避坑意识，在实战中减少非技术性失误，确保发挥稳定。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4E3B">
                <a:alpha val="100000"/>
              </a:srgbClr>
            </a:gs>
            <a:gs pos="100000">
              <a:srgbClr val="042F2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常见易错点与避坑指南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397000"/>
            <a:ext cx="5524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587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154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容器类核心陷阱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594" flipH="false" flipV="false">
            <a:off x="698508" y="2025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98500" y="2159000"/>
            <a:ext cx="5143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vector越界访问：使用[]运算符不做边界检查，极易导致程序崩溃。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空容器操作：stack/queue为空时直接调用top()或pop()会触发未定义行为。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map自动插入：使用[]访问不存在的键会自动插入默认值，干扰逻辑判断。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397000"/>
            <a:ext cx="5524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1587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94500" y="1549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算法逻辑易错点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8594" flipH="false" flipV="false">
            <a:off x="6350008" y="2025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350000" y="2159000"/>
            <a:ext cx="5143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二分前提错误：对未排序的数组使用binary_search/lower_bound会得到错误结果。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去重遗漏排序：unique仅能去除相邻重复元素，使用前必须先调用sort。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比较器写反：sort的自定义比较器返回值错误会导致排序结果混乱。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3810000"/>
            <a:ext cx="5524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000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143000" y="3962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IO 效率与格式雷区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594" flipH="false" flipV="false">
            <a:off x="698508" y="443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98500" y="4572000"/>
            <a:ext cx="5143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cin效率问题：大数据量输入时未关闭同步(std::ios::sync_with_stdio(false))导致超时。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格式符不匹配：printf中用%d输出long long，或用%lld输出int导致数据截断。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混合输入流：加速cin后与scanf/printf混用，会造成缓冲区混乱和数据错误。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59500" y="3810000"/>
            <a:ext cx="5524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4000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94500" y="3962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迭代器失效与使用规范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594" flipH="false" flipV="false">
            <a:off x="6350008" y="443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350000" y="4572000"/>
            <a:ext cx="5143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erase后失效：vector/list erase元素后，原迭代器会失效，需接收erase返回值更新。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非法运算：非随机访问迭代器（如list）不支持减法(-)和[]操作。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比较运算符错误：所有迭代器比较应使用 != 而非 &lt;，避免逻辑错误。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159500"/>
            <a:ext cx="12192000" cy="698500"/>
          </a:xfrm>
          <a:prstGeom prst="roundRect">
            <a:avLst>
              <a:gd name="adj" fmla="val 0"/>
            </a:avLst>
          </a:prstGeom>
          <a:solidFill>
            <a:srgbClr val="B91C1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08000" y="62992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016000" y="6223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警示：这些都是编程考级、竞赛中的扣分重灾区，务必在代码审查阶段反复排查！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64E3B">
                <a:alpha val="100000"/>
              </a:srgbClr>
            </a:gs>
            <a:gs pos="100000">
              <a:srgbClr val="10805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673600" y="2032000"/>
            <a:ext cx="812800" cy="812800"/>
          </a:xfrm>
          <a:prstGeom prst="rect">
            <a:avLst/>
          </a:prstGeom>
        </p:spPr>
      </p:pic>
      <p:cxnSp>
        <p:nvCxnSpPr>
          <p:cNvPr name="Connector 5" id="5"/>
          <p:cNvCxnSpPr/>
          <p:nvPr/>
        </p:nvCxnSpPr>
        <p:spPr>
          <a:xfrm rot="-114549" flipH="false" flipV="false">
            <a:off x="5842106" y="2152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05600" y="2032000"/>
            <a:ext cx="812800" cy="812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35000" y="3302000"/>
            <a:ext cx="1092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备考加油！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94" flipH="false" flipV="false">
            <a:off x="3556008" y="5073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35000" y="54610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GESP C++ 考级必胜</a:t>
            </a:r>
            <a:r>
              <a:rPr lang="en-US" b="false" i="false" strike="noStrike" u="none" sz="18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持续练习 · 熟能生巧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{"Label":"1","ContentProducer":"001191110102MACQD9K64010000","ProduceID":"7653697959498861806","ReservedCode1":"","ContentPropagator":"","PropagateID":"","ReservedCode2":""}</vt:lpwstr>
  </property>
</Properties>
</file>